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6"/>
    <p:sldId id="276" r:id="rId27"/>
    <p:sldId id="277" r:id="rId28"/>
    <p:sldId id="278" r:id="rId29"/>
    <p:sldId id="279" r:id="rId3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ED44E2-2141-6943-9C8F-166E343412C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5E830-5E51-724B-B4E0-906CC499D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4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1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3421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5026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387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828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3189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244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6866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7733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258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157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19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A34AB-FE70-4E3D-83BF-81C573CA40A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127DF-4E2A-4046-8F21-74E66E48B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79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·  CSA0405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26187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Greedy Algorithm-Based Edge CPU Scheduling Platform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sz="20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for Real-Time IoT and Smart City Applications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3200400" cy="0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7512" y="4343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" y="4818888"/>
            <a:ext cx="180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7512" y="5669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Tenzin Wangchu Khongsai(192511447)</a:t>
            </a:r>
          </a:p>
        </p:txBody>
      </p:sp>
      <p:sp>
        <p:nvSpPr>
          <p:cNvPr id="14" name="Text 12"/>
          <p:cNvSpPr/>
          <p:nvPr/>
        </p:nvSpPr>
        <p:spPr>
          <a:xfrm>
            <a:off x="2980944" y="4343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80944" y="4818888"/>
            <a:ext cx="180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Power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80944" y="5669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M.Indhuja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(192521008)</a:t>
            </a:r>
          </a:p>
        </p:txBody>
      </p:sp>
      <p:sp>
        <p:nvSpPr>
          <p:cNvPr id="18" name="Text 16"/>
          <p:cNvSpPr/>
          <p:nvPr/>
        </p:nvSpPr>
        <p:spPr>
          <a:xfrm>
            <a:off x="5294376" y="4343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94376" y="4818888"/>
            <a:ext cx="180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94376" y="5669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M. Hardish (192511098)</a:t>
            </a:r>
          </a:p>
        </p:txBody>
      </p:sp>
      <p:sp>
        <p:nvSpPr>
          <p:cNvPr id="22" name="Text 20"/>
          <p:cNvSpPr/>
          <p:nvPr/>
        </p:nvSpPr>
        <p:spPr>
          <a:xfrm>
            <a:off x="7607808" y="4343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8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07808" y="4818888"/>
            <a:ext cx="180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Software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07808" y="5669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Tharunkumar.S[192511416]</a:t>
            </a:r>
          </a:p>
        </p:txBody>
      </p:sp>
      <p:sp>
        <p:nvSpPr>
          <p:cNvPr id="26" name="Text 24"/>
          <p:cNvSpPr/>
          <p:nvPr/>
        </p:nvSpPr>
        <p:spPr>
          <a:xfrm>
            <a:off x="9921240" y="4343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A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921240" y="4818888"/>
            <a:ext cx="1801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921240" y="56692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----------------------------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144F2-D783-83D4-CC15-9064D8D6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360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029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" cy="868680"/>
          </a:xfrm>
          <a:prstGeom prst="roundRect">
            <a:avLst>
              <a:gd name="adj" fmla="val 21429"/>
            </a:avLst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0436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3955" y="203999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Framework &amp; Simulation Logic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56032" cy="868680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0038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954" y="3017527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Fluctuation &amp; Power Environment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256032" cy="868680"/>
          </a:xfrm>
          <a:prstGeom prst="roundRect">
            <a:avLst>
              <a:gd name="adj" fmla="val 21429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39639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12666" y="3951519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Evaluation &amp; Data Visualizer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256032" cy="868680"/>
          </a:xfrm>
          <a:prstGeom prst="roundRect">
            <a:avLst>
              <a:gd name="adj" fmla="val 21429"/>
            </a:avLst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2960" y="49240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8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203957" y="492905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Software Application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562356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256032" cy="868680"/>
          </a:xfrm>
          <a:prstGeom prst="roundRect">
            <a:avLst>
              <a:gd name="adj" fmla="val 21429"/>
            </a:avLst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2960" y="588416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A6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69125" y="5871755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Comparison</a:t>
            </a:r>
            <a:endParaRPr lang="en-US" sz="15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4A34A2-030E-5902-FA67-39A763B7B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106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487168"/>
            <a:ext cx="3310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at 5% battery stops streaming Netflix automatically.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427939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OS schedulers have NO such rule.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566928"/>
            <a:ext cx="72237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28032" y="1088136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088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73152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Ignores Battery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1133856"/>
            <a:ext cx="5989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gives every task equal time. It never asks: does we have enough power right now?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340864"/>
            <a:ext cx="72237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28032" y="2862072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28032" y="2862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2505456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Crash System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907792"/>
            <a:ext cx="5989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power is low and scheduler keeps running tasks, the whole system can shut down mid-execution.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4114800"/>
            <a:ext cx="72237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28032" y="4636008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28032" y="4636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427939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Wastes Energy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4681728"/>
            <a:ext cx="5989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(first come, first served) runs tasks in order — even if a task uses 10x more energy than needed.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077E99-5148-3915-EEEC-89D85195E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94360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OUR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Scheduler That Thinks About Power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911096" y="2176272"/>
            <a:ext cx="914400" cy="914400"/>
          </a:xfrm>
          <a:prstGeom prst="ellipse">
            <a:avLst/>
          </a:prstGeom>
          <a:solidFill>
            <a:srgbClr val="FFB627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11096" y="2176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50392" y="3218688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Check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50392" y="3675888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any task, check the current battery level first.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0" y="2176272"/>
            <a:ext cx="914400" cy="914400"/>
          </a:xfrm>
          <a:prstGeom prst="ellipse">
            <a:avLst/>
          </a:prstGeom>
          <a:solidFill>
            <a:srgbClr val="FFB627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15000" y="2176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54296" y="3218688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Decide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54296" y="3675888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task's weight vs how much power it will use.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518904" y="2176272"/>
            <a:ext cx="914400" cy="914400"/>
          </a:xfrm>
          <a:prstGeom prst="ellipse">
            <a:avLst/>
          </a:prstGeom>
          <a:solidFill>
            <a:srgbClr val="FFB627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518904" y="21762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58200" y="3218688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Run (or Skip)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58200" y="3675888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high-value, low-power tasks. Pause the rest until power recovers.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4919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23036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scheduler does what your phone already does — it decides which tasks are worth the battery cost.</a:t>
            </a:r>
            <a:endParaRPr lang="en-US" sz="16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CDD5450-F886-C35C-DDE7-178C328AB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Scheduler Picks a Task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956816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44752" y="1709928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Task Weight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4752" y="2084832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weight = more important to the system (like a phone call vs a background download).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3401568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44752" y="3154680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Energy Cost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3529584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battery will this task drain? Lower cost = better candidate to run right now.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4846320"/>
            <a:ext cx="530352" cy="530352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4846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44752" y="459943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Weight by Cost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44752" y="4974336"/>
            <a:ext cx="4773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with the HIGHEST result wins the CPU. Simple division picks our winner every time.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69480" y="1764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69480" y="2221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Priority  =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60920" y="2715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Weight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89520" y="3319272"/>
            <a:ext cx="34747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60920" y="3410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Energy Cost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9965FB1-2C73-2FF6-7CCE-9A36B8E8B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56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ADVANTAGES</a:t>
            </a:r>
          </a:p>
        </p:txBody>
      </p:sp>
      <p:sp>
        <p:nvSpPr>
          <p:cNvPr id="7" name="Shape 5"/>
          <p:cNvSpPr/>
          <p:nvPr/>
        </p:nvSpPr>
        <p:spPr>
          <a:xfrm>
            <a:off x="1965960" y="2011680"/>
            <a:ext cx="594360" cy="59436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65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88036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29535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Schedulers Are Power-Blind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594360" cy="59436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2788920"/>
            <a:ext cx="288036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17720" y="29535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Scheduler Uses a Priority Formula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555480" y="2011680"/>
            <a:ext cx="594360" cy="59436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554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12480" y="2788920"/>
            <a:ext cx="2880360" cy="0"/>
          </a:xfrm>
          <a:prstGeom prst="line">
            <a:avLst/>
          </a:prstGeom>
          <a:noFill/>
          <a:ln w="19050">
            <a:solidFill>
              <a:srgbClr val="FFB6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412480" y="29535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 Survival + Throughput</a:t>
            </a:r>
            <a:endParaRPr lang="en-US" sz="16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375ECFE-76FC-8236-B449-FFAA12A4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94360" y="5486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Fluctuation &amp;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Environment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014984" y="2404872"/>
            <a:ext cx="3200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4360" y="270662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Renewable Power Curves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3236976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31638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State Monitoring &amp; Flagging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60120" y="35753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Task Burst Generation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1E639F-7C04-DAFD-DF36-5E052B351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SIMULATING THE POWER SUPPLY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Power Grid &amp; Battery State Tracker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23560" cy="4526280"/>
          </a:xfrm>
          <a:prstGeom prst="roundRect">
            <a:avLst>
              <a:gd name="adj" fmla="val 1818"/>
            </a:avLst>
          </a:prstGeom>
          <a:solidFill>
            <a:srgbClr val="0D1B2A"/>
          </a:solidFill>
          <a:ln/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SOLAR POWER CURVE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4507992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4233672"/>
            <a:ext cx="384048" cy="5029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00200" y="3776472"/>
            <a:ext cx="384048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544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57400" y="3319272"/>
            <a:ext cx="384048" cy="14173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116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953512"/>
            <a:ext cx="384048" cy="178308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816352"/>
            <a:ext cx="384048" cy="192024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29000" y="2999232"/>
            <a:ext cx="384048" cy="173736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832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86200" y="3319272"/>
            <a:ext cx="384048" cy="14173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43400" y="3730752"/>
            <a:ext cx="384048" cy="100584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976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4233672"/>
            <a:ext cx="384048" cy="5029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57800" y="4535424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12080" y="48097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4736592"/>
            <a:ext cx="5166360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" y="51937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Available (kWh)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50468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availability at noon — scheduler runs maximum tasks.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1508760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State Tracker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0" y="20116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reserves in real-time and flags one of three states to the OS scheduler: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784848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0" y="2761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84848" y="3108960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queued tasks. Maximum throughput mode.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4087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01200" y="40873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30–69%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784848" y="4434840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greedy algorithm. Run high-priority tasks only.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784848" y="54132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LOW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601200" y="54132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30%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784848" y="5760720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non-essential tasks. System preservation mode.</a:t>
            </a:r>
            <a:endParaRPr lang="en-US" sz="11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774F772-4836-32E3-C518-96CC4DDED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TASK GENERATION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Real-World Task Traffic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Replace Static Task Lists?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5669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edge deployment, tasks don't arrive in neat, pre-planned order. Users, sensors, and services generate unpredictable bursts of load — especially during peak usage or environmental events.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5669280" cy="1481328"/>
          </a:xfrm>
          <a:prstGeom prst="roundRect">
            <a:avLst>
              <a:gd name="adj" fmla="val 4938"/>
            </a:avLst>
          </a:prstGeom>
          <a:solidFill>
            <a:srgbClr val="EAF0F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3547872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generator creates randomized traffic spikes that mimic how load actually arrives at real edge nodes — giving us an honest stress-test of the scheduling algorithm.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73952" y="1481328"/>
            <a:ext cx="5257800" cy="4681728"/>
          </a:xfrm>
          <a:prstGeom prst="roundRect">
            <a:avLst>
              <a:gd name="adj" fmla="val 1953"/>
            </a:avLst>
          </a:prstGeom>
          <a:solidFill>
            <a:srgbClr val="0D1B2A"/>
          </a:solidFill>
          <a:ln/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21424" y="1773936"/>
            <a:ext cx="4562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METADATA PROFILE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21424" y="2103120"/>
            <a:ext cx="4562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Assigned to Every Generated Task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21424" y="27980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32320" y="268833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0" y="30175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process identifier (PID-style)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21424" y="3364992"/>
            <a:ext cx="4562856" cy="0"/>
          </a:xfrm>
          <a:prstGeom prst="line">
            <a:avLst/>
          </a:prstGeom>
          <a:noFill/>
          <a:ln w="6350">
            <a:solidFill>
              <a:srgbClr val="3E5C7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21424" y="35295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0" y="341985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0" y="3749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when task enters the queue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21424" y="4096512"/>
            <a:ext cx="4562856" cy="0"/>
          </a:xfrm>
          <a:prstGeom prst="line">
            <a:avLst/>
          </a:prstGeom>
          <a:noFill/>
          <a:ln w="6350">
            <a:solidFill>
              <a:srgbClr val="3E5C7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21424" y="426110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32320" y="415137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Burst Time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32320" y="44805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cycles required to complete the task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21424" y="4828032"/>
            <a:ext cx="4562856" cy="0"/>
          </a:xfrm>
          <a:prstGeom prst="line">
            <a:avLst/>
          </a:prstGeom>
          <a:noFill/>
          <a:ln w="6350">
            <a:solidFill>
              <a:srgbClr val="3E5C7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21424" y="49926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32320" y="488289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Requirement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0" y="52120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footprint (MB) during execution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21424" y="5559552"/>
            <a:ext cx="4562856" cy="0"/>
          </a:xfrm>
          <a:prstGeom prst="line">
            <a:avLst/>
          </a:prstGeom>
          <a:noFill/>
          <a:ln w="6350">
            <a:solidFill>
              <a:srgbClr val="3E5C7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21424" y="57241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32320" y="561441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Rating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32320" y="59436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power draw — key to greedy formula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20B703-916D-30F4-DD31-ECD7AAF38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333154C-F543-AB62-D4A2-854A053A0692}"/>
              </a:ext>
            </a:extLst>
          </p:cNvPr>
          <p:cNvSpPr/>
          <p:nvPr/>
        </p:nvSpPr>
        <p:spPr>
          <a:xfrm>
            <a:off x="1097280" y="2199132"/>
            <a:ext cx="161544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7AEDAF-9F34-E529-0EAA-9341F63F020B}"/>
              </a:ext>
            </a:extLst>
          </p:cNvPr>
          <p:cNvSpPr/>
          <p:nvPr/>
        </p:nvSpPr>
        <p:spPr>
          <a:xfrm>
            <a:off x="4328160" y="2199132"/>
            <a:ext cx="1534155" cy="772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F7D6F4-A63F-575D-61E1-7A27D1E9D3CF}"/>
              </a:ext>
            </a:extLst>
          </p:cNvPr>
          <p:cNvSpPr/>
          <p:nvPr/>
        </p:nvSpPr>
        <p:spPr>
          <a:xfrm>
            <a:off x="7366000" y="2048256"/>
            <a:ext cx="145796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965F5F-71CA-B936-85CF-F8FA294AD976}"/>
              </a:ext>
            </a:extLst>
          </p:cNvPr>
          <p:cNvSpPr/>
          <p:nvPr/>
        </p:nvSpPr>
        <p:spPr>
          <a:xfrm>
            <a:off x="1656080" y="3657600"/>
            <a:ext cx="683767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SYSTEM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Power Environment Feeds the OS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1991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/ Power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Simulator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874520" y="3136392"/>
            <a:ext cx="0" cy="475488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13048" y="21991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Tracker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01768" y="3136392"/>
            <a:ext cx="0" cy="475488"/>
          </a:xfrm>
          <a:prstGeom prst="line">
            <a:avLst/>
          </a:prstGeom>
          <a:noFill/>
          <a:ln w="25400">
            <a:solidFill>
              <a:srgbClr val="FFB62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0296" y="21991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Burst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29016" y="3136392"/>
            <a:ext cx="0" cy="475488"/>
          </a:xfrm>
          <a:prstGeom prst="line">
            <a:avLst/>
          </a:prstGeom>
          <a:noFill/>
          <a:ln w="25400">
            <a:solidFill>
              <a:srgbClr val="E873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06120" y="3904488"/>
            <a:ext cx="9162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FRAMEWORK  —  REAL-TIME DATA BUS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58384" y="4462272"/>
            <a:ext cx="0" cy="475488"/>
          </a:xfrm>
          <a:prstGeom prst="line">
            <a:avLst/>
          </a:prstGeom>
          <a:noFill/>
          <a:ln w="31750">
            <a:solidFill>
              <a:srgbClr val="FFB62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46120" y="5074920"/>
            <a:ext cx="4251960" cy="1097280"/>
          </a:xfrm>
          <a:prstGeom prst="roundRect">
            <a:avLst>
              <a:gd name="adj" fmla="val 7500"/>
            </a:avLst>
          </a:prstGeom>
          <a:solidFill>
            <a:srgbClr val="FFB627"/>
          </a:solidFill>
          <a:ln/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20440" y="52943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SCHEDULER</a:t>
            </a:r>
            <a:endParaRPr lang="en-US" sz="17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(Module 1 Algorithm)</a:t>
            </a:r>
            <a:endParaRPr lang="en-US" sz="17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E426DAB-6A99-3A90-7881-9EEAC7CE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94360" y="5486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Evaluation &amp;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Visualizer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29640" y="2280920"/>
            <a:ext cx="3200400" cy="0"/>
          </a:xfrm>
          <a:prstGeom prst="line">
            <a:avLst/>
          </a:prstGeom>
          <a:noFill/>
          <a:ln w="2540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3375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proves the algorithm WORKS — with numbers and visuals, not just theory.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164592" cy="16459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4206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OS Performance Metrics (WT, TAT, Throughput)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4956048"/>
            <a:ext cx="164592" cy="16459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48646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Edge-Specific Metrics: Power Saved &amp; Task Drop Rate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5614416"/>
            <a:ext cx="164592" cy="16459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32688" y="55229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Gantt Charts, Line Graphs &amp; Comparison Tables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02C43A-F6A1-0EBC-127B-5898D9B9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STANDARD PERFORMANCE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Classic OS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metrics are the foundation of any OS scheduling evaluation. We track them as the baseline.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520440" cy="404164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3520440" cy="109728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76022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DF0EB"/>
          </a:solidFill>
          <a:ln w="1905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602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Time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584448"/>
            <a:ext cx="3063240" cy="438912"/>
          </a:xfrm>
          <a:prstGeom prst="roundRect">
            <a:avLst>
              <a:gd name="adj" fmla="val 125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  =  Start Time  −  Arrival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time a process spends sitting in the ready queue waiting for its turn on the CPU. Our greedy scheduler minimises this for high-priority tasks.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5486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WT = better responsiveness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1755648"/>
            <a:ext cx="3520440" cy="404164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51960" y="1755648"/>
            <a:ext cx="3520440" cy="109728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55498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DF0EB"/>
          </a:solidFill>
          <a:ln w="1905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549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0815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Turnaround 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3584448"/>
            <a:ext cx="3063240" cy="438912"/>
          </a:xfrm>
          <a:prstGeom prst="roundRect">
            <a:avLst>
              <a:gd name="adj" fmla="val 125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80560" y="35844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 =  Completion Time  −  Arrival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417880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time from a process entering the system to it finishing completely. Includes both waiting time and execution time.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26280" y="5486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TAT = faster completion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1755648"/>
            <a:ext cx="3520440" cy="404164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046720" y="1755648"/>
            <a:ext cx="3520440" cy="109728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349740" y="20116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DF0EB"/>
          </a:solidFill>
          <a:ln w="1905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497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21040" y="30815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75320" y="3584448"/>
            <a:ext cx="3063240" cy="438912"/>
          </a:xfrm>
          <a:prstGeom prst="roundRect">
            <a:avLst>
              <a:gd name="adj" fmla="val 125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75320" y="35844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 =  Time of Completing Tasks  ÷  Time Unit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17880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processes the scheduler completes per unit of time. This tells us how productive the CPU is overall.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21040" y="5486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TP = higher productivity</a:t>
            </a: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9923FE0-EB67-437F-2947-0C126F578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530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Unique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Metrics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30428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metrics are what separate our scheduler from a textbook OS implementation.</a:t>
            </a:r>
            <a:endParaRPr lang="en-US" sz="13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16283C"/>
          </a:solidFill>
          <a:ln w="1270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22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Saved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16283C"/>
          </a:solidFill>
          <a:ln w="1270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4919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2120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22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Rate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METRICS MEAN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804672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Extra Metrics?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80760" y="1417320"/>
            <a:ext cx="5760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schedulers are only judged on speed. Edge schedulers must also be judged on survival — can the system stay alive when power is scarce?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80760" y="2395728"/>
            <a:ext cx="5760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E8734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0760" y="2395728"/>
            <a:ext cx="201168" cy="1691640"/>
          </a:xfrm>
          <a:prstGeom prst="roundRect">
            <a:avLst>
              <a:gd name="adj" fmla="val 27273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64808" y="256032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Power Saved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4808" y="2944368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total energy consumed by our Greedy Scheduler vs standard FCFS. The difference = power saved. Even a 15–20% reduction extends battery life significantly in IoT deployments.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80760" y="4270248"/>
            <a:ext cx="57607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9050">
            <a:solidFill>
              <a:srgbClr val="FFB627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80760" y="4270248"/>
            <a:ext cx="201168" cy="1691640"/>
          </a:xfrm>
          <a:prstGeom prst="roundRect">
            <a:avLst>
              <a:gd name="adj" fmla="val 27273"/>
            </a:avLst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64808" y="443484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Drop Rate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64808" y="4818888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battery hits Critical Low, our scheduler safely rejects non-critical tasks rather than crashing. A low drop rate means the algorithm is proactive — it prevents the crisis before it happens.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1C214B7-17F9-FA71-2563-AC4D6D9A2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DATA VISUALIZATION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Terminal Logs Into Visual 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19072"/>
            <a:ext cx="3520440" cy="440740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2953512"/>
            <a:ext cx="3520440" cy="109728"/>
          </a:xfrm>
          <a:prstGeom prst="round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36192" y="18288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536192" y="2130552"/>
            <a:ext cx="2258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3232" y="313639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Execution Timeline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3547872"/>
            <a:ext cx="30083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exact order in which processes are executed over time. Clearly shows where the scheduler pauses, skips, or re-orders tasks based on battery state.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5330952"/>
            <a:ext cx="3008376" cy="621792"/>
          </a:xfrm>
          <a:prstGeom prst="roundRect">
            <a:avLst>
              <a:gd name="adj" fmla="val 8824"/>
            </a:avLst>
          </a:prstGeom>
          <a:solidFill>
            <a:srgbClr val="FDF0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" y="5330952"/>
            <a:ext cx="2825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to: Visually confirm the greedy order is correct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1719072"/>
            <a:ext cx="3520440" cy="440740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51960" y="1719072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51960" y="2953512"/>
            <a:ext cx="3520440" cy="109728"/>
          </a:xfrm>
          <a:prstGeom prst="round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805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30952" y="18288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30952" y="2130552"/>
            <a:ext cx="2258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vs. Load</a:t>
            </a:r>
            <a:endParaRPr lang="en-US" sz="16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Graph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07992" y="313639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Response Visualization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07992" y="3547872"/>
            <a:ext cx="30083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available battery level (y-axis left) against CPU throughput (y-axis right) over time. Shows exactly HOW and WHEN the scheduler adapts to power fluctuations.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07992" y="5330952"/>
            <a:ext cx="3008376" cy="621792"/>
          </a:xfrm>
          <a:prstGeom prst="roundRect">
            <a:avLst>
              <a:gd name="adj" fmla="val 8824"/>
            </a:avLst>
          </a:prstGeom>
          <a:solidFill>
            <a:srgbClr val="FDF0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99432" y="5330952"/>
            <a:ext cx="2825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to: Prove dynamic adaptation is working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1719072"/>
            <a:ext cx="3520440" cy="440740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46720" y="1719072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046720" y="2953512"/>
            <a:ext cx="3520440" cy="109728"/>
          </a:xfrm>
          <a:prstGeom prst="round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753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⇌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25712" y="182880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25712" y="2130552"/>
            <a:ext cx="2258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302752" y="313639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vs. Round-Robin vs. FCFS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02752" y="3547872"/>
            <a:ext cx="300837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 table comparing all three algorithms across: WT, TAT, Throughput, Power Saved, and Task Drop Rate. The smoking gun for your project evaluation.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02752" y="5330952"/>
            <a:ext cx="3008376" cy="621792"/>
          </a:xfrm>
          <a:prstGeom prst="roundRect">
            <a:avLst>
              <a:gd name="adj" fmla="val 8824"/>
            </a:avLst>
          </a:prstGeom>
          <a:solidFill>
            <a:srgbClr val="FDF0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94192" y="5330952"/>
            <a:ext cx="2825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to: Prove our scheduler wins on all edge metrics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88671C4-94C8-29F1-2C10-A0872915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94360" y="5486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B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Software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3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3200400" cy="0"/>
          </a:xfrm>
          <a:prstGeom prst="line">
            <a:avLst/>
          </a:prstGeom>
          <a:noFill/>
          <a:ln w="25400">
            <a:solidFill>
              <a:srgbClr val="9B89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3375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the glue — the integration framework and execution engine that stitches all other modules into one running program.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4462272"/>
            <a:ext cx="164592" cy="164592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2688" y="43708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Integration Framework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5120640"/>
            <a:ext cx="164592" cy="164592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2688" y="50292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Execution Engine &amp; Main Event Loop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5779008"/>
            <a:ext cx="164592" cy="164592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32688" y="56875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Management, Preemption &amp; Output Logging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2377CA-63CD-CA8B-FE55-4BE8C5B4E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B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All Four Modules Connect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is the central nervous system — it pipes data between every other module in real-time.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359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860">
            <a:solidFill>
              <a:srgbClr val="02C39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7512" y="203911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</a:t>
            </a:r>
            <a:endParaRPr lang="en-US" sz="15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7512" y="2971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62072" y="2615184"/>
            <a:ext cx="475488" cy="0"/>
          </a:xfrm>
          <a:prstGeom prst="line">
            <a:avLst/>
          </a:prstGeom>
          <a:noFill/>
          <a:ln w="25400">
            <a:solidFill>
              <a:srgbClr val="3E5C7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359152" cy="1481328"/>
          </a:xfrm>
          <a:prstGeom prst="roundRect">
            <a:avLst>
              <a:gd name="adj" fmla="val 5556"/>
            </a:avLst>
          </a:prstGeom>
          <a:solidFill>
            <a:srgbClr val="0D1B2A"/>
          </a:solidFill>
          <a:ln w="22860">
            <a:solidFill>
              <a:srgbClr val="9B89C4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02152" y="203911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5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02152" y="2971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9B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96712" y="2615184"/>
            <a:ext cx="475488" cy="0"/>
          </a:xfrm>
          <a:prstGeom prst="line">
            <a:avLst/>
          </a:prstGeom>
          <a:noFill/>
          <a:ln w="25400">
            <a:solidFill>
              <a:srgbClr val="3E5C7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2359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860">
            <a:solidFill>
              <a:srgbClr val="FFB627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36792" y="203911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15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36792" y="2971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31352" y="2615184"/>
            <a:ext cx="475488" cy="0"/>
          </a:xfrm>
          <a:prstGeom prst="line">
            <a:avLst/>
          </a:prstGeom>
          <a:noFill/>
          <a:ln w="25400">
            <a:solidFill>
              <a:srgbClr val="3E5C7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006840" y="1874520"/>
            <a:ext cx="2359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860">
            <a:solidFill>
              <a:srgbClr val="E8734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71432" y="2039112"/>
            <a:ext cx="2029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550" dirty="0"/>
          </a:p>
          <a:p>
            <a:pPr marL="0" indent="0" algn="ctr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71432" y="297180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858768"/>
            <a:ext cx="539496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57428" y="4047744"/>
            <a:ext cx="548640" cy="548640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4728" y="40604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27048" y="41148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95528" y="4608576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variables — Battery Level, Queue Size, Power State — are piped in real-time directly from Module 2 into the core scheduling logic provided by Module 1.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36792" y="3858768"/>
            <a:ext cx="539496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29400" y="3996944"/>
            <a:ext cx="548640" cy="548640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616700" y="40096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41148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&amp; Cross-Platform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629400" y="4608576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user-space (no kernel modifications), ensuring the system runs on any platform — Linux, Windows, or embedded OS — without risk of kernel crashes.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C8F7039-CE3C-FC99-E055-BC4F4076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94360" y="502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CORE SOFTWARE APPLICATION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Execution Engine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246120" cy="2450592"/>
          </a:xfrm>
          <a:prstGeom prst="roundRect">
            <a:avLst>
              <a:gd name="adj" fmla="val 3731"/>
            </a:avLst>
          </a:prstGeom>
          <a:solidFill>
            <a:srgbClr val="16283C"/>
          </a:solidFill>
          <a:ln w="12700">
            <a:solidFill>
              <a:srgbClr val="9B89C4"/>
            </a:solidFill>
            <a:prstDash val="solid"/>
          </a:ln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0392" y="2130552"/>
            <a:ext cx="566928" cy="566928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50392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2862072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Event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event-driven loop pulls the next highest-priority task from the queue, applies the Module 1 greedy formula, and assigns CPU time slices accordingly.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3099816"/>
            <a:ext cx="438912" cy="0"/>
          </a:xfrm>
          <a:prstGeom prst="line">
            <a:avLst/>
          </a:prstGeom>
          <a:noFill/>
          <a:ln w="25400">
            <a:solidFill>
              <a:srgbClr val="9B89C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79392" y="1874520"/>
            <a:ext cx="3246120" cy="2450592"/>
          </a:xfrm>
          <a:prstGeom prst="roundRect">
            <a:avLst>
              <a:gd name="adj" fmla="val 3731"/>
            </a:avLst>
          </a:prstGeom>
          <a:solidFill>
            <a:srgbClr val="16283C"/>
          </a:solidFill>
          <a:ln w="12700">
            <a:solidFill>
              <a:srgbClr val="9B89C4"/>
            </a:solidFill>
            <a:prstDash val="solid"/>
          </a:ln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35424" y="2130552"/>
            <a:ext cx="566928" cy="566928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35424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5424" y="2862072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Management &amp; Preemption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35424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constantly monitors the Battery State flag from Module 2. If the flag switches to Critical Low mid-task, the engine safely preempts (pauses) the current task without data corruption.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25512" y="3099816"/>
            <a:ext cx="438912" cy="0"/>
          </a:xfrm>
          <a:prstGeom prst="line">
            <a:avLst/>
          </a:prstGeom>
          <a:noFill/>
          <a:ln w="25400">
            <a:solidFill>
              <a:srgbClr val="9B89C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964424" y="1874520"/>
            <a:ext cx="3246120" cy="2450592"/>
          </a:xfrm>
          <a:prstGeom prst="roundRect">
            <a:avLst>
              <a:gd name="adj" fmla="val 3731"/>
            </a:avLst>
          </a:prstGeom>
          <a:solidFill>
            <a:srgbClr val="16283C"/>
          </a:solidFill>
          <a:ln w="12700">
            <a:solidFill>
              <a:srgbClr val="9B89C4"/>
            </a:solidFill>
            <a:prstDash val="solid"/>
          </a:ln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0456" y="2130552"/>
            <a:ext cx="566928" cy="566928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0456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0456" y="2862072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Logging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0456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scheduling decision is written to a structured CSV/JSON log file in real-time. These logs are the raw data Module 3 consumes to compute all final metrics and generate visualizations.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17420" y="4325112"/>
            <a:ext cx="0" cy="292608"/>
          </a:xfrm>
          <a:prstGeom prst="line">
            <a:avLst/>
          </a:prstGeom>
          <a:noFill/>
          <a:ln w="19050">
            <a:solidFill>
              <a:srgbClr val="9B89C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587484" y="4325112"/>
            <a:ext cx="0" cy="292608"/>
          </a:xfrm>
          <a:prstGeom prst="line">
            <a:avLst/>
          </a:prstGeom>
          <a:noFill/>
          <a:ln w="19050">
            <a:solidFill>
              <a:srgbClr val="9B89C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17420" y="4800600"/>
            <a:ext cx="7370064" cy="0"/>
          </a:xfrm>
          <a:prstGeom prst="line">
            <a:avLst/>
          </a:prstGeom>
          <a:noFill/>
          <a:ln w="19050">
            <a:solidFill>
              <a:srgbClr val="9B89C4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873752"/>
            <a:ext cx="1061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loop — repeats while system is powered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5257800"/>
            <a:ext cx="10972800" cy="1078992"/>
          </a:xfrm>
          <a:prstGeom prst="roundRect">
            <a:avLst>
              <a:gd name="adj" fmla="val 7627"/>
            </a:avLst>
          </a:prstGeom>
          <a:solidFill>
            <a:srgbClr val="9B89C4"/>
          </a:solidFill>
          <a:ln/>
          <a:effectLst>
            <a:outerShdw blurRad="177800" dist="635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1440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never blocks — it reads state, decides, executes, and logs all within a single loop iteration. No deadlocks. No resource starvation.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B951B01-7577-774A-86E6-592D3B83E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B8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INTEGRATION &amp; OUTPUT 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Input Data to Final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298448" cy="1115568"/>
          </a:xfrm>
          <a:prstGeom prst="roundRect">
            <a:avLst>
              <a:gd name="adj" fmla="val 655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298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99796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65960" y="19979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70048" y="1801368"/>
            <a:ext cx="8851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Sends Real-Time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70048" y="2167128"/>
            <a:ext cx="8851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level, power state flag, and task queue are pushed into the engine at every loop tick.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06424" y="2807208"/>
            <a:ext cx="0" cy="182880"/>
          </a:xfrm>
          <a:prstGeom prst="line">
            <a:avLst/>
          </a:prstGeom>
          <a:noFill/>
          <a:ln w="19050">
            <a:solidFill>
              <a:srgbClr val="E1E6E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1298448" cy="1115568"/>
          </a:xfrm>
          <a:prstGeom prst="roundRect">
            <a:avLst>
              <a:gd name="adj" fmla="val 6557"/>
            </a:avLst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990088"/>
            <a:ext cx="1298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3296412"/>
            <a:ext cx="502920" cy="502920"/>
          </a:xfrm>
          <a:prstGeom prst="ellipse">
            <a:avLst/>
          </a:prstGeom>
          <a:solidFill>
            <a:srgbClr val="9B89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965960" y="32964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3099816"/>
            <a:ext cx="8851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Runs the Scheduler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70048" y="3465576"/>
            <a:ext cx="8851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engine applies Module 1's greedy formula to decide which task gets CPU time next.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06424" y="4105656"/>
            <a:ext cx="0" cy="182880"/>
          </a:xfrm>
          <a:prstGeom prst="line">
            <a:avLst/>
          </a:prstGeom>
          <a:noFill/>
          <a:ln w="19050">
            <a:solidFill>
              <a:srgbClr val="E1E6E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4288536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4288536"/>
            <a:ext cx="1298448" cy="1115568"/>
          </a:xfrm>
          <a:prstGeom prst="roundRect">
            <a:avLst>
              <a:gd name="adj" fmla="val 6557"/>
            </a:avLst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288536"/>
            <a:ext cx="1298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65960" y="459486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965960" y="45948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70048" y="4398264"/>
            <a:ext cx="8851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Logs Every Decision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70048" y="4764024"/>
            <a:ext cx="8851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scheduling action (run, pause, drop) is written to a structured CSV/JSON execution log in real time.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06424" y="5404104"/>
            <a:ext cx="0" cy="182880"/>
          </a:xfrm>
          <a:prstGeom prst="line">
            <a:avLst/>
          </a:prstGeom>
          <a:noFill/>
          <a:ln w="19050">
            <a:solidFill>
              <a:srgbClr val="E1E6E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" y="5586984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5586984"/>
            <a:ext cx="1298448" cy="1115568"/>
          </a:xfrm>
          <a:prstGeom prst="roundRect">
            <a:avLst>
              <a:gd name="adj" fmla="val 6557"/>
            </a:avLst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5586984"/>
            <a:ext cx="1298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5893308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965960" y="58933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70048" y="5696712"/>
            <a:ext cx="8851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Reads the Logs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70048" y="6062472"/>
            <a:ext cx="8851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visualizer reads the output files, computes all metrics, and generates charts + the comparison table.</a:t>
            </a:r>
            <a:endParaRPr lang="en-US" sz="12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86B4389-966B-9D9A-EB04-3E8DA73B5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10241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Comparison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03580" y="3794760"/>
            <a:ext cx="3200400" cy="0"/>
          </a:xfrm>
          <a:prstGeom prst="line">
            <a:avLst/>
          </a:prstGeom>
          <a:noFill/>
          <a:ln w="19050">
            <a:solidFill>
              <a:srgbClr val="8F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Scheduler vs FCFS vs Round-Robin — comparing traditional CPU scheduling with power-aware scheduling.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57C335-36A0-EF57-41AF-C1FFF564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ALGORITHM COMPARISON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Scheduler vs FCFS vs Round-Robin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traditional CPU scheduling with power-aware scheduling.</a:t>
            </a:r>
          </a:p>
        </p:txBody>
      </p:sp>
      <p:sp>
        <p:nvSpPr>
          <p:cNvPr id="50" name="Card Key Result"/>
          <p:cNvSpPr/>
          <p:nvPr/>
        </p:nvSpPr>
        <p:spPr>
          <a:xfrm>
            <a:off x="457200" y="4720000"/>
            <a:ext cx="5488800" cy="15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Key Result Label"/>
          <p:cNvSpPr/>
          <p:nvPr/>
        </p:nvSpPr>
        <p:spPr>
          <a:xfrm>
            <a:off x="685800" y="4902880"/>
            <a:ext cx="503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</a:p>
        </p:txBody>
      </p:sp>
      <p:sp>
        <p:nvSpPr>
          <p:cNvPr id="52" name="Text Key Result Body"/>
          <p:cNvSpPr/>
          <p:nvPr/>
        </p:nvSpPr>
        <p:spPr>
          <a:xfrm>
            <a:off x="685800" y="5314360"/>
            <a:ext cx="5031600" cy="77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schedulers focus mainly on CPU performance. </a:t>
            </a: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Greedy Scheduler considers both task importance and energy cost.</a:t>
            </a:r>
          </a:p>
        </p:txBody>
      </p:sp>
      <p:sp>
        <p:nvSpPr>
          <p:cNvPr id="55" name="Card Project Connection"/>
          <p:cNvSpPr/>
          <p:nvPr/>
        </p:nvSpPr>
        <p:spPr>
          <a:xfrm>
            <a:off x="6246000" y="4720000"/>
            <a:ext cx="5488800" cy="15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Project Connection Label"/>
          <p:cNvSpPr/>
          <p:nvPr/>
        </p:nvSpPr>
        <p:spPr>
          <a:xfrm>
            <a:off x="6474600" y="4902880"/>
            <a:ext cx="503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CONNECTION</a:t>
            </a:r>
          </a:p>
        </p:txBody>
      </p:sp>
      <p:sp>
        <p:nvSpPr>
          <p:cNvPr id="57" name="Text Project Connection Body"/>
          <p:cNvSpPr/>
          <p:nvPr/>
        </p:nvSpPr>
        <p:spPr>
          <a:xfrm>
            <a:off x="6474600" y="5314360"/>
            <a:ext cx="5031600" cy="77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supports the project goal of evaluating Greedy, Round-Robin, and FCFS using standard OS metrics and edge-specific metrics such as power saved and task drop rate.</a:t>
            </a:r>
          </a:p>
        </p:txBody>
      </p:sp>
      <p:graphicFrame>
        <p:nvGraphicFramePr>
          <p:cNvPr id="30" name="Comparison Table"/>
          <p:cNvGraphicFramePr>
            <a:graphicFrameLocks noGrp="1"/>
          </p:cNvGraphicFramePr>
          <p:nvPr/>
        </p:nvGraphicFramePr>
        <p:xfrm>
          <a:off x="457200" y="1650000"/>
          <a:ext cx="11277600" cy="2820000"/>
        </p:xfrm>
        <a:graphic>
          <a:graphicData uri="http://schemas.openxmlformats.org/drawingml/2006/table">
            <a:tbl>
              <a:tblPr firstRow="1" bandRow="0"/>
              <a:tblGrid>
                <a:gridCol w="2000000"/>
                <a:gridCol w="2800000"/>
                <a:gridCol w="2800000"/>
                <a:gridCol w="3677600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Scheduler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Time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for priority tasks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under power constraints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Awareness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Saving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Protection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E1E6EA"/>
                      </a:solidFill>
                    </a:lnL>
                    <a:lnR w="6350">
                      <a:solidFill>
                        <a:srgbClr val="E1E6EA"/>
                      </a:solidFill>
                    </a:lnR>
                    <a:lnT w="6350">
                      <a:solidFill>
                        <a:srgbClr val="E1E6EA"/>
                      </a:solidFill>
                    </a:lnT>
                    <a:lnB w="6350">
                      <a:solidFill>
                        <a:srgbClr val="E1E6EA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B702C43A-F6A1-0EBC-127B-5898D9B9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ALGORITHM COMPARISON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Greedy Scheduler Wins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the comparison in the previous slide plays out the way it does.</a:t>
            </a:r>
          </a:p>
        </p:txBody>
      </p:sp>
      <p:sp>
        <p:nvSpPr>
          <p:cNvPr id="10" name="Card 0"/>
          <p:cNvSpPr/>
          <p:nvPr/>
        </p:nvSpPr>
        <p:spPr>
          <a:xfrm>
            <a:off x="457200" y="2050000"/>
            <a:ext cx="3559200" cy="3600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tripe 0"/>
          <p:cNvSpPr/>
          <p:nvPr/>
        </p:nvSpPr>
        <p:spPr>
          <a:xfrm>
            <a:off x="457200" y="2050000"/>
            <a:ext cx="3559200" cy="109728"/>
          </a:xfrm>
          <a:prstGeom prst="roundRect">
            <a:avLst>
              <a:gd name="adj" fmla="val 50000"/>
            </a:avLst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Num 0"/>
          <p:cNvSpPr/>
          <p:nvPr/>
        </p:nvSpPr>
        <p:spPr>
          <a:xfrm>
            <a:off x="777240" y="259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</p:txBody>
      </p:sp>
      <p:sp>
        <p:nvSpPr>
          <p:cNvPr id="13" name="Title 0"/>
          <p:cNvSpPr/>
          <p:nvPr/>
        </p:nvSpPr>
        <p:spPr>
          <a:xfrm>
            <a:off x="777240" y="3467320"/>
            <a:ext cx="291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Priority-Aware Decisions</a:t>
            </a:r>
          </a:p>
        </p:txBody>
      </p:sp>
      <p:sp>
        <p:nvSpPr>
          <p:cNvPr id="14" name="Desc 0"/>
          <p:cNvSpPr/>
          <p:nvPr/>
        </p:nvSpPr>
        <p:spPr>
          <a:xfrm>
            <a:off x="777240" y="4427440"/>
            <a:ext cx="291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task importance against energy cost every cycle, not just arrival order.</a:t>
            </a:r>
          </a:p>
        </p:txBody>
      </p:sp>
      <p:sp>
        <p:nvSpPr>
          <p:cNvPr id="16" name="Card 1"/>
          <p:cNvSpPr/>
          <p:nvPr/>
        </p:nvSpPr>
        <p:spPr>
          <a:xfrm>
            <a:off x="4316400" y="2050000"/>
            <a:ext cx="3559200" cy="3600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tripe 1"/>
          <p:cNvSpPr/>
          <p:nvPr/>
        </p:nvSpPr>
        <p:spPr>
          <a:xfrm>
            <a:off x="4316400" y="2050000"/>
            <a:ext cx="3559200" cy="109728"/>
          </a:xfrm>
          <a:prstGeom prst="roundRect">
            <a:avLst>
              <a:gd name="adj" fmla="val 50000"/>
            </a:avLst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Num 1"/>
          <p:cNvSpPr/>
          <p:nvPr/>
        </p:nvSpPr>
        <p:spPr>
          <a:xfrm>
            <a:off x="4636440" y="259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</p:txBody>
      </p:sp>
      <p:sp>
        <p:nvSpPr>
          <p:cNvPr id="19" name="Title 1"/>
          <p:cNvSpPr/>
          <p:nvPr/>
        </p:nvSpPr>
        <p:spPr>
          <a:xfrm>
            <a:off x="4636440" y="3467320"/>
            <a:ext cx="291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Under Load</a:t>
            </a:r>
          </a:p>
        </p:txBody>
      </p:sp>
      <p:sp>
        <p:nvSpPr>
          <p:cNvPr id="20" name="Desc 1"/>
          <p:cNvSpPr/>
          <p:nvPr/>
        </p:nvSpPr>
        <p:spPr>
          <a:xfrm>
            <a:off x="4636440" y="4427440"/>
            <a:ext cx="291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holds up as battery state changes, where FCFS and Round-Robin stay flat.</a:t>
            </a:r>
          </a:p>
        </p:txBody>
      </p:sp>
      <p:sp>
        <p:nvSpPr>
          <p:cNvPr id="22" name="Card 2"/>
          <p:cNvSpPr/>
          <p:nvPr/>
        </p:nvSpPr>
        <p:spPr>
          <a:xfrm>
            <a:off x="8175600" y="2050000"/>
            <a:ext cx="3559200" cy="3600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tripe 2"/>
          <p:cNvSpPr/>
          <p:nvPr/>
        </p:nvSpPr>
        <p:spPr>
          <a:xfrm>
            <a:off x="8175600" y="2050000"/>
            <a:ext cx="3559200" cy="109728"/>
          </a:xfrm>
          <a:prstGeom prst="roundRect">
            <a:avLst>
              <a:gd name="adj" fmla="val 50000"/>
            </a:avLst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um 2"/>
          <p:cNvSpPr/>
          <p:nvPr/>
        </p:nvSpPr>
        <p:spPr>
          <a:xfrm>
            <a:off x="8495640" y="259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25" name="Title 2"/>
          <p:cNvSpPr/>
          <p:nvPr/>
        </p:nvSpPr>
        <p:spPr>
          <a:xfrm>
            <a:off x="8495640" y="3467320"/>
            <a:ext cx="291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Task Protection</a:t>
            </a:r>
          </a:p>
        </p:txBody>
      </p:sp>
      <p:sp>
        <p:nvSpPr>
          <p:cNvPr id="26" name="Desc 2"/>
          <p:cNvSpPr/>
          <p:nvPr/>
        </p:nvSpPr>
        <p:spPr>
          <a:xfrm>
            <a:off x="8495640" y="4427440"/>
            <a:ext cx="291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tasks are shielded from starvation — a gap in both baseline algorithms.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02C43A-F6A1-0EBC-127B-5898D9B9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ALGORITHM COMPARISON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Limitations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 at what the Greedy Scheduler gives up for its gains.</a:t>
            </a:r>
          </a:p>
        </p:txBody>
      </p:sp>
      <p:sp>
        <p:nvSpPr>
          <p:cNvPr id="10" name="Card 0"/>
          <p:cNvSpPr/>
          <p:nvPr/>
        </p:nvSpPr>
        <p:spPr>
          <a:xfrm>
            <a:off x="457200" y="2050000"/>
            <a:ext cx="3559200" cy="3600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tripe 0"/>
          <p:cNvSpPr/>
          <p:nvPr/>
        </p:nvSpPr>
        <p:spPr>
          <a:xfrm>
            <a:off x="457200" y="2050000"/>
            <a:ext cx="3559200" cy="109728"/>
          </a:xfrm>
          <a:prstGeom prst="roundRect">
            <a:avLst>
              <a:gd name="adj" fmla="val 50000"/>
            </a:avLst>
          </a:prstGeom>
          <a:solidFill>
            <a:srgbClr val="5B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Num 0"/>
          <p:cNvSpPr/>
          <p:nvPr/>
        </p:nvSpPr>
        <p:spPr>
          <a:xfrm>
            <a:off x="777240" y="259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</a:p>
        </p:txBody>
      </p:sp>
      <p:sp>
        <p:nvSpPr>
          <p:cNvPr id="13" name="Title 0"/>
          <p:cNvSpPr/>
          <p:nvPr/>
        </p:nvSpPr>
        <p:spPr>
          <a:xfrm>
            <a:off x="777240" y="3467320"/>
            <a:ext cx="291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Per-Decision Cost</a:t>
            </a:r>
          </a:p>
        </p:txBody>
      </p:sp>
      <p:sp>
        <p:nvSpPr>
          <p:cNvPr id="14" name="Desc 0"/>
          <p:cNvSpPr/>
          <p:nvPr/>
        </p:nvSpPr>
        <p:spPr>
          <a:xfrm>
            <a:off x="777240" y="4427440"/>
            <a:ext cx="291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 priority-weight score each cycle costs more than FCFS's simple queue check.</a:t>
            </a:r>
          </a:p>
        </p:txBody>
      </p:sp>
      <p:sp>
        <p:nvSpPr>
          <p:cNvPr id="16" name="Card 1"/>
          <p:cNvSpPr/>
          <p:nvPr/>
        </p:nvSpPr>
        <p:spPr>
          <a:xfrm>
            <a:off x="4316400" y="2050000"/>
            <a:ext cx="3559200" cy="3600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tripe 1"/>
          <p:cNvSpPr/>
          <p:nvPr/>
        </p:nvSpPr>
        <p:spPr>
          <a:xfrm>
            <a:off x="4316400" y="2050000"/>
            <a:ext cx="3559200" cy="109728"/>
          </a:xfrm>
          <a:prstGeom prst="roundRect">
            <a:avLst>
              <a:gd name="adj" fmla="val 50000"/>
            </a:avLst>
          </a:prstGeom>
          <a:solidFill>
            <a:srgbClr val="5B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Num 1"/>
          <p:cNvSpPr/>
          <p:nvPr/>
        </p:nvSpPr>
        <p:spPr>
          <a:xfrm>
            <a:off x="4636440" y="259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</a:p>
        </p:txBody>
      </p:sp>
      <p:sp>
        <p:nvSpPr>
          <p:cNvPr id="19" name="Title 1"/>
          <p:cNvSpPr/>
          <p:nvPr/>
        </p:nvSpPr>
        <p:spPr>
          <a:xfrm>
            <a:off x="4636440" y="3467320"/>
            <a:ext cx="291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Calibrated Energy Model</a:t>
            </a:r>
          </a:p>
        </p:txBody>
      </p:sp>
      <p:sp>
        <p:nvSpPr>
          <p:cNvPr id="20" name="Desc 1"/>
          <p:cNvSpPr/>
          <p:nvPr/>
        </p:nvSpPr>
        <p:spPr>
          <a:xfrm>
            <a:off x="4636440" y="4427440"/>
            <a:ext cx="291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inaccurate power estimate can steer the scheduler toward the wrong task.</a:t>
            </a:r>
          </a:p>
        </p:txBody>
      </p:sp>
      <p:sp>
        <p:nvSpPr>
          <p:cNvPr id="22" name="Card 2"/>
          <p:cNvSpPr/>
          <p:nvPr/>
        </p:nvSpPr>
        <p:spPr>
          <a:xfrm>
            <a:off x="8175600" y="2050000"/>
            <a:ext cx="3559200" cy="36000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6EA"/>
            </a:solidFill>
            <a:prstDash val="solid"/>
          </a:ln>
          <a:effectLst>
            <a:outerShdw blurRad="101600" dist="38100" dir="5400000" algn="bl" rotWithShape="0">
              <a:srgbClr val="0D1B2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tripe 2"/>
          <p:cNvSpPr/>
          <p:nvPr/>
        </p:nvSpPr>
        <p:spPr>
          <a:xfrm>
            <a:off x="8175600" y="2050000"/>
            <a:ext cx="3559200" cy="109728"/>
          </a:xfrm>
          <a:prstGeom prst="roundRect">
            <a:avLst>
              <a:gd name="adj" fmla="val 50000"/>
            </a:avLst>
          </a:prstGeom>
          <a:solidFill>
            <a:srgbClr val="5B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um 2"/>
          <p:cNvSpPr/>
          <p:nvPr/>
        </p:nvSpPr>
        <p:spPr>
          <a:xfrm>
            <a:off x="8495640" y="259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25" name="Title 2"/>
          <p:cNvSpPr/>
          <p:nvPr/>
        </p:nvSpPr>
        <p:spPr>
          <a:xfrm>
            <a:off x="8495640" y="3467320"/>
            <a:ext cx="291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Locally Optimal, Not Global</a:t>
            </a:r>
          </a:p>
        </p:txBody>
      </p:sp>
      <p:sp>
        <p:nvSpPr>
          <p:cNvPr id="26" name="Desc 2"/>
          <p:cNvSpPr/>
          <p:nvPr/>
        </p:nvSpPr>
        <p:spPr>
          <a:xfrm>
            <a:off x="8495640" y="4427440"/>
            <a:ext cx="291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choices are best in the moment; rare edge cases may still favor simpler queuing.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02C43A-F6A1-0EBC-127B-5898D9B9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669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981328"/>
            <a:ext cx="10241280" cy="1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2394760"/>
            <a:ext cx="3200400" cy="0"/>
          </a:xfrm>
          <a:prstGeom prst="line">
            <a:avLst/>
          </a:prstGeom>
          <a:noFill/>
          <a:ln w="19050">
            <a:solidFill>
              <a:srgbClr val="8FA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57764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greedy, power-aware scheduler outperforms traditional FCFS and Round-Robin approaches for real-time IoT and edge devices — without sacrificing task protection.</a:t>
            </a:r>
          </a:p>
        </p:txBody>
      </p:sp>
      <p:sp>
        <p:nvSpPr>
          <p:cNvPr id="20" name="Dot 0"/>
          <p:cNvSpPr/>
          <p:nvPr/>
        </p:nvSpPr>
        <p:spPr>
          <a:xfrm>
            <a:off x="640080" y="3741440"/>
            <a:ext cx="164592" cy="164592"/>
          </a:xfrm>
          <a:prstGeom prst="ellipse">
            <a:avLst/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Take 0"/>
          <p:cNvSpPr/>
          <p:nvPr/>
        </p:nvSpPr>
        <p:spPr>
          <a:xfrm>
            <a:off x="978408" y="365000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All Five Modules — theory, environment modeling, metrics, integration, and comparison all point to the same result.</a:t>
            </a:r>
          </a:p>
        </p:txBody>
      </p:sp>
      <p:sp>
        <p:nvSpPr>
          <p:cNvPr id="22" name="Dot 1"/>
          <p:cNvSpPr/>
          <p:nvPr/>
        </p:nvSpPr>
        <p:spPr>
          <a:xfrm>
            <a:off x="640080" y="4399808"/>
            <a:ext cx="164592" cy="164592"/>
          </a:xfrm>
          <a:prstGeom prst="ellipse">
            <a:avLst/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Take 1"/>
          <p:cNvSpPr/>
          <p:nvPr/>
        </p:nvSpPr>
        <p:spPr>
          <a:xfrm>
            <a:off x="978408" y="430836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Power-Aware Scheduling Works — the Greedy Scheduler cuts waiting time for priority tasks and saves more power than FCFS or Round-Robin.</a:t>
            </a:r>
          </a:p>
        </p:txBody>
      </p:sp>
      <p:sp>
        <p:nvSpPr>
          <p:cNvPr id="24" name="Dot 2"/>
          <p:cNvSpPr/>
          <p:nvPr/>
        </p:nvSpPr>
        <p:spPr>
          <a:xfrm>
            <a:off x="640080" y="5058176"/>
            <a:ext cx="164592" cy="164592"/>
          </a:xfrm>
          <a:prstGeom prst="ellipse">
            <a:avLst/>
          </a:prstGeom>
          <a:solidFill>
            <a:srgbClr val="8FA6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Take 2"/>
          <p:cNvSpPr/>
          <p:nvPr/>
        </p:nvSpPr>
        <p:spPr>
          <a:xfrm>
            <a:off x="978408" y="4966736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 Deployment — the architecture and execution engine are built for real-time IoT and smart city edge devices.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02C43A-F6A1-0EBC-127B-5898D9B9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sources on energy-aware and edge/IoT task scheduling, published 2021 or later.</a:t>
            </a:r>
          </a:p>
        </p:txBody>
      </p:sp>
      <p:sp>
        <p:nvSpPr>
          <p:cNvPr id="10" name="RefNum 0"/>
          <p:cNvSpPr/>
          <p:nvPr/>
        </p:nvSpPr>
        <p:spPr>
          <a:xfrm>
            <a:off x="457200" y="175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</a:p>
        </p:txBody>
      </p:sp>
      <p:sp>
        <p:nvSpPr>
          <p:cNvPr id="11" name="RefText 0"/>
          <p:cNvSpPr/>
          <p:nvPr/>
        </p:nvSpPr>
        <p:spPr>
          <a:xfrm>
            <a:off x="1050000" y="1750000"/>
            <a:ext cx="99228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Mijuskovic, A., Chiumento, A., Bemthuis, R., Aldea, A., &amp; Havinga, P. (2021). Resource management techniques for cloud/fog and edge computing: An evaluation framework and classification. Sensors, 21(5), 1832.</a:t>
            </a:r>
          </a:p>
        </p:txBody>
      </p:sp>
      <p:sp>
        <p:nvSpPr>
          <p:cNvPr id="13" name="RefNum 1"/>
          <p:cNvSpPr/>
          <p:nvPr/>
        </p:nvSpPr>
        <p:spPr>
          <a:xfrm>
            <a:off x="457200" y="247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</a:p>
        </p:txBody>
      </p:sp>
      <p:sp>
        <p:nvSpPr>
          <p:cNvPr id="14" name="RefText 1"/>
          <p:cNvSpPr/>
          <p:nvPr/>
        </p:nvSpPr>
        <p:spPr>
          <a:xfrm>
            <a:off x="1050000" y="2470000"/>
            <a:ext cx="99228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Goudarzi, M., Palaniswami, M., &amp; Buyya, R. (2022). Scheduling IoT applications in edge and fog computing environments: A taxonomy and future directions. ACM Computing Surveys, 55(1), 1–41.</a:t>
            </a:r>
          </a:p>
        </p:txBody>
      </p:sp>
      <p:sp>
        <p:nvSpPr>
          <p:cNvPr id="16" name="RefNum 2"/>
          <p:cNvSpPr/>
          <p:nvPr/>
        </p:nvSpPr>
        <p:spPr>
          <a:xfrm>
            <a:off x="457200" y="319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</a:p>
        </p:txBody>
      </p:sp>
      <p:sp>
        <p:nvSpPr>
          <p:cNvPr id="17" name="RefText 2"/>
          <p:cNvSpPr/>
          <p:nvPr/>
        </p:nvSpPr>
        <p:spPr>
          <a:xfrm>
            <a:off x="1050000" y="3190000"/>
            <a:ext cx="99228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Sahni, Y., Cao, J., Yang, L., &amp; Wang, S. (2022). Distributed resource scheduling in edge computing: Problems, solutions, and opportunities. Computer Networks, 219, 109430.</a:t>
            </a:r>
          </a:p>
        </p:txBody>
      </p:sp>
      <p:sp>
        <p:nvSpPr>
          <p:cNvPr id="19" name="RefNum 3"/>
          <p:cNvSpPr/>
          <p:nvPr/>
        </p:nvSpPr>
        <p:spPr>
          <a:xfrm>
            <a:off x="457200" y="391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</a:p>
        </p:txBody>
      </p:sp>
      <p:sp>
        <p:nvSpPr>
          <p:cNvPr id="20" name="RefText 3"/>
          <p:cNvSpPr/>
          <p:nvPr/>
        </p:nvSpPr>
        <p:spPr>
          <a:xfrm>
            <a:off x="1050000" y="3910000"/>
            <a:ext cx="99228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Haibeh, L. A., Yagoub, M. C., &amp; Jarray, A. (2022). A survey on mobile edge computing infrastructure: Design, resource management, and optimization approaches. IEEE Access, 10, 27591–27610.</a:t>
            </a:r>
          </a:p>
        </p:txBody>
      </p:sp>
      <p:sp>
        <p:nvSpPr>
          <p:cNvPr id="22" name="RefNum 4"/>
          <p:cNvSpPr/>
          <p:nvPr/>
        </p:nvSpPr>
        <p:spPr>
          <a:xfrm>
            <a:off x="457200" y="463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</a:p>
        </p:txBody>
      </p:sp>
      <p:sp>
        <p:nvSpPr>
          <p:cNvPr id="23" name="RefText 4"/>
          <p:cNvSpPr/>
          <p:nvPr/>
        </p:nvSpPr>
        <p:spPr>
          <a:xfrm>
            <a:off x="1050000" y="4630000"/>
            <a:ext cx="99228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Ijaz, S., Munir, E. U., Ahmad, S. G., Rafique, M. M., &amp; Rana, O. F. (2021). Energy-makespan optimization of workflow scheduling in fog-cloud computing. Computing, 103(9), 2033–2059.</a:t>
            </a:r>
          </a:p>
        </p:txBody>
      </p:sp>
      <p:sp>
        <p:nvSpPr>
          <p:cNvPr id="25" name="RefNum 5"/>
          <p:cNvSpPr/>
          <p:nvPr/>
        </p:nvSpPr>
        <p:spPr>
          <a:xfrm>
            <a:off x="457200" y="535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</a:p>
        </p:txBody>
      </p:sp>
      <p:sp>
        <p:nvSpPr>
          <p:cNvPr id="26" name="RefText 5"/>
          <p:cNvSpPr/>
          <p:nvPr/>
        </p:nvSpPr>
        <p:spPr>
          <a:xfrm>
            <a:off x="1050000" y="5350000"/>
            <a:ext cx="99228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Panda, S. K., Lin, M., &amp; Zhou, T. (2023). Energy-efficient computation offloading with DVFS using deep reinforcement learning for time-critical IoT applications in edge computing. IEEE Internet of Things Journal, 10(8), 6611–6621.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02C43A-F6A1-0EBC-127B-5898D9B9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682" y="23305"/>
            <a:ext cx="1137983" cy="1137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</TotalTime>
  <Words>1642</Words>
  <Application>Microsoft Office PowerPoint</Application>
  <PresentationFormat>Widescreen</PresentationFormat>
  <Paragraphs>290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8</cp:revision>
  <dcterms:created xsi:type="dcterms:W3CDTF">2026-07-17T04:18:49Z</dcterms:created>
  <dcterms:modified xsi:type="dcterms:W3CDTF">2026-07-27T05:59:37Z</dcterms:modified>
</cp:coreProperties>
</file>